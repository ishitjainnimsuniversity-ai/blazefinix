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475488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SMART INDIA HACKATHON • MEDTECH / HEALTHCARE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Classical-Quantum Clinical AI Platform for Multi-Cancer Early Risk Stratification</a:t>
            </a:r>
          </a:p>
          <a:p>
            <a:pPr>
              <a:defRPr sz="1250">
                <a:solidFill>
                  <a:srgbClr val="93C5FD"/>
                </a:solidFill>
              </a:defRPr>
            </a:pPr>
            <a:r>
              <a:t>Integrating Live Cancer Genomics (Ensembl, NCI GDC, cBioPortal) with Dual Boosting &amp; 4-Qubit Parameterized VQC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578608" cy="932688"/>
          </a:xfrm>
          <a:prstGeom prst="roundRect">
            <a:avLst/>
          </a:prstGeom>
          <a:solidFill>
            <a:srgbClr val="1426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95144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✔ 100% Working Prototype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Fully functional full-stack system with live inference &amp;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40280"/>
            <a:ext cx="2578608" cy="932688"/>
          </a:xfrm>
          <a:prstGeom prst="roundRect">
            <a:avLst/>
          </a:prstGeom>
          <a:solidFill>
            <a:srgbClr val="142646"/>
          </a:solidFill>
          <a:ln w="19050">
            <a:solidFill>
              <a:srgbClr val="0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2295144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✔ Live Genomic APIs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Ensembl exons + NCI GDC cohorts + cBioPortal somatic mutations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40280"/>
            <a:ext cx="2578608" cy="932688"/>
          </a:xfrm>
          <a:prstGeom prst="roundRect">
            <a:avLst/>
          </a:prstGeom>
          <a:solidFill>
            <a:srgbClr val="14264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2295144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✔ Classical-Quantum Symbiosis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XGBoost + AdaBoost + 4-Qubit VQC consensus &amp;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240280"/>
            <a:ext cx="2578608" cy="932688"/>
          </a:xfrm>
          <a:prstGeom prst="roundRect">
            <a:avLst/>
          </a:prstGeom>
          <a:solidFill>
            <a:srgbClr val="14264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33688" y="2295144"/>
            <a:ext cx="2359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✔ Dual Clinical PDF Reports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Doctor Technical Dossier + Patient Plain-Language Summary</a:t>
            </a:r>
          </a:p>
        </p:txBody>
      </p:sp>
      <p:pic>
        <p:nvPicPr>
          <p:cNvPr id="13" name="Picture 12" descr="hd_real_patients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64992"/>
            <a:ext cx="6309360" cy="370549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223760" y="3364992"/>
            <a:ext cx="4236415" cy="2971800"/>
          </a:xfrm>
          <a:prstGeom prst="roundRect">
            <a:avLst/>
          </a:prstGeom>
          <a:solidFill>
            <a:srgbClr val="111E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456432"/>
            <a:ext cx="395935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96B4"/>
                </a:solidFill>
              </a:defRPr>
            </a:pPr>
            <a:r>
              <a:t>CORE VALUE PROPOSITION: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“Don't assume quantum advantage — measure it.”</a:t>
            </a:r>
          </a:p>
          <a:p>
            <a:pPr>
              <a:defRPr sz="919" b="0">
                <a:solidFill>
                  <a:srgbClr val="CBD5E1"/>
                </a:solidFill>
              </a:defRPr>
            </a:pPr>
            <a:r>
              <a:t>Empirically validates quantum state separation vs. classical boosting on identical patient-stratified cohorts.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KEY SYSTEM CAPABILITIES:</a:t>
            </a:r>
          </a:p>
          <a:p>
            <a:pPr>
              <a:defRPr sz="900" b="0">
                <a:solidFill>
                  <a:srgbClr val="E2E8F0"/>
                </a:solidFill>
              </a:defRPr>
            </a:pPr>
            <a:r>
              <a:t>• Covers all Top 5 Cancers for Males &amp; Females (GLOBOCAN)</a:t>
            </a:r>
          </a:p>
          <a:p>
            <a:pPr>
              <a:defRPr sz="900" b="0">
                <a:solidFill>
                  <a:srgbClr val="E2E8F0"/>
                </a:solidFill>
              </a:defRPr>
            </a:pPr>
            <a:r>
              <a:t>• Pre-loaded Real Patient Cohort Library (Both Sexes)</a:t>
            </a:r>
          </a:p>
          <a:p>
            <a:pPr>
              <a:defRPr sz="900" b="0">
                <a:solidFill>
                  <a:srgbClr val="E2E8F0"/>
                </a:solidFill>
              </a:defRPr>
            </a:pPr>
            <a:r>
              <a:t>• Interactive 5-Chapter Hybrid QML Simulation Video</a:t>
            </a:r>
          </a:p>
          <a:p>
            <a:pPr>
              <a:defRPr sz="900" b="0">
                <a:solidFill>
                  <a:srgbClr val="E2E8F0"/>
                </a:solidFill>
              </a:defRPr>
            </a:pPr>
            <a:r>
              <a:t>• Automated Clinical Triage when Epistemic Uncertainty U &gt; 0.15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"/>
            <a:ext cx="292608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SIH REQUIREMENT •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621792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943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043"/>
                </a:solidFill>
              </a:defRPr>
            </a:pPr>
            <a:r>
              <a:t>1. Detailed Explanation of Proposed Solution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5-Stage Hybrid Architecture uniting Classical Gradient-Boosted Decision Trees (XGBoost + AdaBoost) with a 4-Qubit Parameterized Variational Quantum Classifier (VQC).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Live Ingestion of Global Repositories: Real-time REST endpoints query Ensembl (exon structures &amp; transcripts), NCI GDC (TCGA donor cases &amp; staging), and cBioPortal (somatic driver mutations).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Calibrated Multi-Modal Fusion: Pairs continuous tabular biomarkers (Age, BMI, TMB, Smoking) with high-dimensional genomic signatures and optical dermoscopic asymmetry.</a:t>
            </a:r>
          </a:p>
          <a:p>
            <a:pPr>
              <a:defRPr sz="1050" b="1">
                <a:solidFill>
                  <a:srgbClr val="0F2043"/>
                </a:solidFill>
              </a:defRPr>
            </a:pPr>
            <a:r>
              <a:t>2. How It Addresses the Clinical Problem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Overcomes Classical Orthogonal Split Limits: Classical trees suffer exponential depth &amp; overfitting when multi-gene somatic mutations co-occur (e.g. concurrent TP53 + BRAF V600E + high TMB).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Eliminates Diagnostic Delays: Traditional multi-gene sequencing reports take 2–4 weeks; our hybrid engine computes risk stratification and uncertainty in &lt;200 milliseconds.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Solves AI 'Black-Box' Reluctance: Delivers auditable TreeSHAP feature attribution alongside Bloch sphere quantum state angles (θ, φ) for regulatory clinical compliance.</a:t>
            </a:r>
          </a:p>
          <a:p>
            <a:pPr>
              <a:defRPr sz="1050" b="1">
                <a:solidFill>
                  <a:srgbClr val="0F2043"/>
                </a:solidFill>
              </a:defRPr>
            </a:pPr>
            <a:r>
              <a:t>3. Innovation &amp; Uniqueness of the Solution (USP)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USP: “Don't assume quantum advantage — measure it.” Rigorously benchmarks classical vs. quantum models on identical patient-stratified partitions.</a:t>
            </a:r>
          </a:p>
          <a:p>
            <a:pPr>
              <a:defRPr sz="830">
                <a:solidFill>
                  <a:srgbClr val="0F172A"/>
                </a:solidFill>
              </a:defRPr>
            </a:pPr>
            <a:r>
              <a:t>• Consensus Ensemble &amp; Epistemic Uncertainty: Combines models via P_hyb = 0.65 P_classical + 0.35 P_quantum. Discordance |P_c - P_q| directly quantifies uncertainty, auto-flagging border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005840"/>
            <a:ext cx="4693615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d_cancer_genomics_brc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15568"/>
            <a:ext cx="4419295" cy="2623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3977639"/>
            <a:ext cx="4419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WORKING PROTOTYPE: LIVE GENOMICS &amp; EXON ARCHITECTURE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Live validation on TCGA-BRCA (Breast Cancer) showing real Ensembl BRCA1 chromosome coordinates (chr17, 23 exons), real NCI GDC patient cases (TCGA-BH-A0B2), and cBioPortal driver mutations feeding directly into the hybrid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"/>
            <a:ext cx="292608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SIH REQUIREMENT •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TECHNICAL APPROACH (Tech Stack &amp; Implementation Methodology)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57784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0F2043"/>
                </a:solidFill>
              </a:defRPr>
            </a:pPr>
            <a:r>
              <a:t>Technologies Used (Languages, Frameworks, Hardware)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Core Programming &amp; Async Backend: Python 3.12, FastAPI, Uvicorn (High-throughput async clinical REST API), Pydantic v2 schemas.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Classical ML &amp; Attribution: XGBoost (Gradient Boosted Trees), AdaBoost (Adaptive Sample Weighting), Scikit-Learn, TreeSHAP (Local Shapley feature importances), OpenCV (Dermoscopy).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Quantum Frameworks &amp; QPUs: Qiskit, Qiskit Aer (Statevector &amp; Shot-based Simulation), PennyLane; cloud hardware dispatch ready for IBM Quantum (Falcon/Heron) &amp; AWS Braket.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Live Cancer Genomic APIs: Ensembl REST API (rest.ensembl.org), NCI GDC API (api.gdc.cancer.gov), cBioPortal Web API (cbioportal.org/api), ICGC-ARGO schema.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Frontend &amp; Clinical UI: TypeScript, React 18, Vite, Tailwind CSS, Lucide Icons, ReportLab PDF Engine (Doctor Dossier &amp; Patient Summary generation).</a:t>
            </a:r>
          </a:p>
          <a:p>
            <a:pPr>
              <a:defRPr sz="1019" b="1">
                <a:solidFill>
                  <a:srgbClr val="0F2043"/>
                </a:solidFill>
              </a:defRPr>
            </a:pPr>
            <a:r>
              <a:t>Implementation Methodology: 5-Stage Pipeline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Stage 1: Multi-Modal Ingestion: Harmonizes genomic mutations (TP53, BRCA1, BRAF), exon depths, and clinical tabular co-factors into normalized feature vectors.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Stage 2: Classical Dual Boosting: XGBoost + AdaBoost partition non-linear thresholds with TreeSHAP local driver attributions (e.g. TP53 +0.28, TMB +0.19).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Stage 3: 4-Qubit Parameterized VQC: Encodes 4 latent drivers via Ry(θ)/Rz(2θ) into 16D Hilbert space (C^16) with CNOT entanglement gates to map complex multi-gene couplings.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Stage 4: Symbiotic Consensus Fusion: P_hyb = 0.65 P_classical + 0.35 P_quantum. Quantifies epistemic uncertainty U = |P_c - P_q| to trigger automated oncology triage.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Stage 5: Dual Report Synthesis: Produces verifiable Doctor Clinical Dossier and Plain-Language Patient Summary with complete audit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33695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d_simulation_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15568"/>
            <a:ext cx="5059375" cy="26662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977639"/>
            <a:ext cx="50593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WORKING PROTOTYPE: 5-CHAPTER HYBRID SIMULATION PLAYER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Interactive simulation player running inside the deployed application, visualizing step-by-step how Quantum ML supports Classical ML, how live APIs identify mutations, and how dual reports are compiled with zero black-box obscurity.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"/>
            <a:ext cx="292608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SIH REQUIREMENT •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FEASIBILITY AND VIABILITY (Feasibility, Risks &amp; Mitigation Strategies)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57784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0F2043"/>
                </a:solidFill>
              </a:defRPr>
            </a:pPr>
            <a:r>
              <a:t>Analysis of the Feasibility of the Idea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Computational Feasibility: Simulates 4-qubit VQC in &lt;180 ms and classical dual boosting in &lt;50 ms on standard commodity hospital PCs/laptops. Zero reliance on expensive, multi-million dollar cryogenic dilution refrigerators.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Data &amp; API Feasibility: Directly grounded in free, open public clinical repositories: NCI GDC, cBioPortal, and Ensembl REST APIs. No proprietary data gating or costly paywalls.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Clinical Interoperability: Outputs standard HL7/FHIR compatible JSON schemas and automated Doctor/Patient PDFs directly ingestible by hospital electronic health records (EHR/EMR).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Cost-Effectiveness: Small, hardware-efficient ansatz (R_y, R_z, CNOT) executes seamlessly on cloud quantum simulators (Qiskit Aer) without hardware recurring fees.</a:t>
            </a:r>
          </a:p>
          <a:p>
            <a:pPr>
              <a:defRPr sz="1019" b="1">
                <a:solidFill>
                  <a:srgbClr val="0F2043"/>
                </a:solidFill>
              </a:defRPr>
            </a:pPr>
            <a:r>
              <a:t>Potential Challenges &amp; Risks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Quantum Decoherence &amp; Noise: Physical NISQ hardware exhibits gate error rates and noise on deep quantum circuits.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Clinical Data Heterogeneity: Patient records vary in completeness (targeted panels vs. Whole Exome Sequencing).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Regulatory &amp; 'Black-Box' Resistance: Clinicians hesitate to adopt non-transparent AI models for oncology diagnosis.</a:t>
            </a:r>
          </a:p>
          <a:p>
            <a:pPr>
              <a:defRPr sz="1019" b="1">
                <a:solidFill>
                  <a:srgbClr val="0F2043"/>
                </a:solidFill>
              </a:defRPr>
            </a:pPr>
            <a:r>
              <a:t>Strategies for Overcoming Challenges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Noise-Resilient Variational Design: Shallow 4-qubit circuit with statevector simulation fallback guarantees stable convergence.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Robust Imputation &amp; Normalization: Automated min-max scaling and population-calibrated defaults for missing clinical co-factors.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Human-in-the-Loop Safeguards: TreeSHAP attribution, mandatory disclaimers, and automated oncology board referral when U &gt; 0.15.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33695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d_symbiosi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15568"/>
            <a:ext cx="5059375" cy="2650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977639"/>
            <a:ext cx="50593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PROTOTYPE VERIFICATION: STAGE 4 SYMBIOTIC CONSENSUS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Detailed screenshot showing the mathematical union of Classical ML (0.65 weight) and Quantum ML (0.35 weight), proving feasibility and clinical uncertainty mitigation in live operation.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"/>
            <a:ext cx="292608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SIH REQUIREMENT •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IMPACT AND BENEFITS (Audience Impact, Social, Economic &amp; Health Benefits)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57784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0F2043"/>
                </a:solidFill>
              </a:defRPr>
            </a:pPr>
            <a:r>
              <a:t>Potential Impact on the Target Audience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Oncologists &amp; Specialists: Reduces case triage and genomic literature search from 20+ hours to instant automated insights; delivers exact SHAP biomarker drivers and NCI clinical guidelines.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Patients &amp; Families: Dual plain-language summaries dispel terrifying clinical jargon, clearly outlining doctor discussion points and personalized preventive checklists.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Primary Healthcare Centers (PHCs) &amp; Tier-2/3 Hospitals: Empowers community medical officers with national-standard cancer screening before ordering invasive, expensive biopsies.</a:t>
            </a:r>
          </a:p>
          <a:p>
            <a:pPr>
              <a:defRPr sz="1019" b="1">
                <a:solidFill>
                  <a:srgbClr val="0F2043"/>
                </a:solidFill>
              </a:defRPr>
            </a:pPr>
            <a:r>
              <a:t>Benefits of the Solution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Social &amp; Healthcare Equity: Covers top 5 frequent cancers for both males (Oral, Lung, Prostate, Stomach, Colorectal) and females (Breast, Cervical, Ovarian, Oral, Colorectal), bridging India's rural-urban oncology divide.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Economic Impact: Cuts unnecessary initial diagnostic costs by up to 70%. Early Stage I/II detection prevents catastrophic out-of-pocket expenses associated with Stage IV salvage therapy.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Environmental &amp; Operational Efficiency: Lightweight 4-qubit circuit consumes a fraction of the computational wattage and carbon footprint required by massive multi-billion parameter foundation LLMs.</a:t>
            </a:r>
          </a:p>
          <a:p>
            <a:pPr>
              <a:defRPr sz="810">
                <a:solidFill>
                  <a:srgbClr val="0F172A"/>
                </a:solidFill>
              </a:defRPr>
            </a:pPr>
            <a:r>
              <a:t>• National Scalability: Modular architecture starts with high-burden cancers (Breast, Oral, Lung) and scales seamlessly to national cancer control programs (NPCDCS).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33695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d_dermal_melan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15568"/>
            <a:ext cx="5059375" cy="3083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977639"/>
            <a:ext cx="50593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PROTOTYPE VERIFICATION: DERMAL &amp; GENOMIC MULTI-MODAL SCREENING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Live multi-modal evaluation showing real melanoma patient evaluation (TCGA-SKCM), live Ensembl MC1R exon structure, dermoscopic optical asymmetry, and calibrated risk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"/>
            <a:ext cx="292608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SIH REQUIREMENT •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RESEARCH AND REFERENCES (Details / Links of Reference &amp; Research Work)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57784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Peer-Reviewed Scientific Literature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[NCI Genomic Data Commons (GDC)]: Grossman, R. L. et al. 'Toward a Shared Information Resource: The NCI Genomic Data Commons', New England Journal of Medicine, 375(12), 1109–1112 (2016). DOI: 10.1056/NEJMp1607591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[cBioPortal for Cancer Genomics]: Cerami, E. et al. 'The cBio Cancer Genomics Portal: An Open Platform for Exploring Multidimensional Cancer Genomics Data', Cancer Discovery, 2(5), 401–404 (2012). DOI: 10.1158/2159-8290.CD-12-0095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[Ensembl Genome Browser &amp; REST API]: Cunningham, F. et al. 'Ensembl 2022', Nucleic Acids Research, 50(D1), D988–D995 (2022). DOI: 10.1093/nar/gkab1049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[Variational Quantum Classifiers (VQC)]: Havlíček, V. et al. 'Supervised learning with quantum-enhanced feature spaces', Nature, 567(7747), 209–212 (2019). DOI: 10.1038/s41586-019-0980-2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[TreeSHAP Explainable AI]: Lundberg, S. M. et al. 'From local explanations to global understanding with explainable AI for trees', Nature Machine Intelligence, 2(1), 56–67 (2020). DOI: 10.1038/s42256-019-0138-9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33695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51560"/>
            <a:ext cx="505937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Live Clinical Repositories &amp; Verification Links</a:t>
            </a:r>
          </a:p>
          <a:p>
            <a:pPr>
              <a:defRPr sz="850" b="1">
                <a:solidFill>
                  <a:srgbClr val="0096B4"/>
                </a:solidFill>
              </a:defRPr>
            </a:pPr>
            <a:r>
              <a:t>🔗 NCI GDC Web API: https://api.gdc.cancer.gov/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   Queries real TCGA cases, stage demographics, and open clinical outcomes.</a:t>
            </a:r>
          </a:p>
          <a:p>
            <a:pPr>
              <a:defRPr sz="850" b="1">
                <a:solidFill>
                  <a:srgbClr val="0096B4"/>
                </a:solidFill>
              </a:defRPr>
            </a:pPr>
            <a:r>
              <a:t>🔗 cBioPortal Web API: https://www.cbioportal.org/api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   Retrieves somatic driver alterations (BRAF, TP53, EGFR, KRAS, APC).</a:t>
            </a:r>
          </a:p>
          <a:p>
            <a:pPr>
              <a:defRPr sz="850" b="1">
                <a:solidFill>
                  <a:srgbClr val="0096B4"/>
                </a:solidFill>
              </a:defRPr>
            </a:pPr>
            <a:r>
              <a:t>🔗 Ensembl REST API: https://rest.ensembl.org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   Live chromosomal coordinates, canonical transcripts, and high-resolution exon spans.</a:t>
            </a:r>
          </a:p>
          <a:p>
            <a:pPr>
              <a:defRPr sz="850" b="1">
                <a:solidFill>
                  <a:srgbClr val="0096B4"/>
                </a:solidFill>
              </a:defRPr>
            </a:pPr>
            <a:r>
              <a:t>🔗 ICGC-ARGO Platform: https://platform.icgc-argo.org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   Harmonized cancer genome schemas and international donor registries.</a:t>
            </a:r>
          </a:p>
          <a:p>
            <a:pPr>
              <a:defRPr sz="850" b="1">
                <a:solidFill>
                  <a:srgbClr val="0096B4"/>
                </a:solidFill>
              </a:defRPr>
            </a:pPr>
            <a:r>
              <a:t>🔗 WHO/IARC GLOBOCAN 2024: https://gco.iarc.who.int/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   Authoritative global epidemiology defining top 5 cancer incidence for males &amp; females.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PROTOTYPE STATUS: 100% FUNCTIONAL &amp; VERIFIED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All pipelines, live APIs, and dual PDF report generators are fully deployed and demonstrated in the submitted working prototype.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75569"/>
                </a:solidFill>
              </a:defRPr>
            </a:pPr>
            <a:r>
              <a:t>MANDATORY MEDICAL DISCLAIMER: AI-generated risk assessment — not a final medical diagnosis. Final clinical decision remains with a qualified healthcare professional.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C3AED"/>
                </a:solidFill>
              </a:defRPr>
            </a:pPr>
            <a:r>
              <a:t>Slide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